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CH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70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"/>
            <a:ext cx="978408" cy="2103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56655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C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planificación financiera   |   Documento confidencial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3270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10528"/>
            <a:ext cx="201168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64739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DC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Chotocruz&amp;Co. Todos los derechos reservados.   |   Asesoría patrimonial independiente.   ·   22 de octubre de 2026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48640" y="61996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6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basada en los supuestos señalados; no constituye una garantía de resultados futuros.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18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de ejemplo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años · independencia financiera a los 60 · horizonte de 50 años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822960" cy="0"/>
          </a:xfrm>
          <a:prstGeom prst="line">
            <a:avLst/>
          </a:prstGeom>
          <a:noFill/>
          <a:ln w="31750">
            <a:solidFill>
              <a:srgbClr val="9180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383280"/>
            <a:ext cx="2636444" cy="1737360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383280"/>
            <a:ext cx="2636444" cy="64008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1188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RIESGO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 conservador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1 · puntaje 3.9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67964" y="3383280"/>
            <a:ext cx="2636444" cy="1737360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7964" y="3383280"/>
            <a:ext cx="2636444" cy="64008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0844" y="361188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FINANCIERO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50844" y="3931920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 conservador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50844" y="452628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3.1 · rinde 6.0% anual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87288" y="3383280"/>
            <a:ext cx="2636444" cy="1737360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7288" y="3383280"/>
            <a:ext cx="2636444" cy="64008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0168" y="361188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MÍNIMO REQUERIDO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70168" y="3931920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US$472 798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70168" y="452628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actual US$250 000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06611" y="3383280"/>
            <a:ext cx="2636444" cy="1737360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611" y="3383280"/>
            <a:ext cx="2636444" cy="64008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491" y="361188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RETIRO INICIAL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89491" y="3931920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89491" y="452628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 neto del primer año de retiro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Perfil de riesgo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1 · diez preguntas sobre tolerancia y apetito de riesgo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420624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7840" y="1920240"/>
            <a:ext cx="36877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al riesgo</a:t>
            </a:r>
            <a:endParaRPr lang="en-US" sz="1150" dirty="0"/>
          </a:p>
          <a:p>
            <a:pPr indent="0" marL="0">
              <a:buNone/>
            </a:pPr>
            <a:r>
              <a:rPr lang="en-US" sz="85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1, 2, 3, 7 y 9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9402775" y="2011680"/>
            <a:ext cx="228600" cy="82296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40519" y="2011680"/>
            <a:ext cx="228600" cy="82296"/>
          </a:xfrm>
          <a:prstGeom prst="rect">
            <a:avLst/>
          </a:prstGeom>
          <a:solidFill>
            <a:srgbClr val="EAEFDF"/>
          </a:solidFill>
          <a:ln w="12700">
            <a:solidFill>
              <a:srgbClr val="EAEF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78263" y="2011680"/>
            <a:ext cx="228600" cy="82296"/>
          </a:xfrm>
          <a:prstGeom prst="rect">
            <a:avLst/>
          </a:prstGeom>
          <a:solidFill>
            <a:srgbClr val="DFE6CE"/>
          </a:solidFill>
          <a:ln w="12700">
            <a:solidFill>
              <a:srgbClr val="DFE6C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116007" y="2011680"/>
            <a:ext cx="228600" cy="82296"/>
          </a:xfrm>
          <a:prstGeom prst="rect">
            <a:avLst/>
          </a:prstGeom>
          <a:solidFill>
            <a:srgbClr val="D2DBBB"/>
          </a:solidFill>
          <a:ln w="12700">
            <a:solidFill>
              <a:srgbClr val="D2DBB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353751" y="2011680"/>
            <a:ext cx="228600" cy="82296"/>
          </a:xfrm>
          <a:prstGeom prst="rect">
            <a:avLst/>
          </a:prstGeom>
          <a:solidFill>
            <a:srgbClr val="C3CEA2"/>
          </a:solidFill>
          <a:ln w="12700">
            <a:solidFill>
              <a:srgbClr val="C3CEA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706421" y="1988820"/>
            <a:ext cx="128016" cy="128016"/>
          </a:xfrm>
          <a:prstGeom prst="ellipse">
            <a:avLst/>
          </a:prstGeom>
          <a:solidFill>
            <a:srgbClr val="2B30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82935" y="1920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de 10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577840" y="2377440"/>
            <a:ext cx="6065215" cy="0"/>
          </a:xfrm>
          <a:prstGeom prst="line">
            <a:avLst/>
          </a:prstGeom>
          <a:noFill/>
          <a:ln w="6350">
            <a:solidFill>
              <a:srgbClr val="C6CCB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2514600"/>
            <a:ext cx="36877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Apetito de riesgo</a:t>
            </a:r>
            <a:endParaRPr lang="en-US" sz="1150" dirty="0"/>
          </a:p>
          <a:p>
            <a:pPr indent="0" marL="0">
              <a:buNone/>
            </a:pPr>
            <a:r>
              <a:rPr lang="en-US" sz="85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4, 5, 6, 8 y 10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402775" y="2606040"/>
            <a:ext cx="228600" cy="82296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40519" y="2606040"/>
            <a:ext cx="228600" cy="82296"/>
          </a:xfrm>
          <a:prstGeom prst="rect">
            <a:avLst/>
          </a:prstGeom>
          <a:solidFill>
            <a:srgbClr val="EAEFDF"/>
          </a:solidFill>
          <a:ln w="12700">
            <a:solidFill>
              <a:srgbClr val="EAEFD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878263" y="2606040"/>
            <a:ext cx="228600" cy="82296"/>
          </a:xfrm>
          <a:prstGeom prst="rect">
            <a:avLst/>
          </a:prstGeom>
          <a:solidFill>
            <a:srgbClr val="DFE6CE"/>
          </a:solidFill>
          <a:ln w="12700">
            <a:solidFill>
              <a:srgbClr val="DFE6C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116007" y="2606040"/>
            <a:ext cx="228600" cy="82296"/>
          </a:xfrm>
          <a:prstGeom prst="rect">
            <a:avLst/>
          </a:prstGeom>
          <a:solidFill>
            <a:srgbClr val="D2DBBB"/>
          </a:solidFill>
          <a:ln w="12700">
            <a:solidFill>
              <a:srgbClr val="D2DBB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353751" y="2606040"/>
            <a:ext cx="228600" cy="82296"/>
          </a:xfrm>
          <a:prstGeom prst="rect">
            <a:avLst/>
          </a:prstGeom>
          <a:solidFill>
            <a:srgbClr val="C3CEA2"/>
          </a:solidFill>
          <a:ln w="12700">
            <a:solidFill>
              <a:srgbClr val="C3CEA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895831" y="2583180"/>
            <a:ext cx="128016" cy="128016"/>
          </a:xfrm>
          <a:prstGeom prst="ellipse">
            <a:avLst/>
          </a:prstGeom>
          <a:solidFill>
            <a:srgbClr val="2B30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82935" y="25146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de 10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577840" y="2971800"/>
            <a:ext cx="6065215" cy="0"/>
          </a:xfrm>
          <a:prstGeom prst="line">
            <a:avLst/>
          </a:prstGeom>
          <a:noFill/>
          <a:ln w="6350">
            <a:solidFill>
              <a:srgbClr val="C6CCB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77840" y="3337560"/>
            <a:ext cx="6065215" cy="0"/>
          </a:xfrm>
          <a:prstGeom prst="line">
            <a:avLst/>
          </a:prstGeom>
          <a:noFill/>
          <a:ln w="19050">
            <a:solidFill>
              <a:srgbClr val="2B301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77840" y="3410712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del perfil de riesgo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0545775" y="34107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de 10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577840" y="3685032"/>
            <a:ext cx="6065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ponderado de las diez preguntas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577840" y="399592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riesgo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357055" y="3995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 conservador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Perfil financiero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menor entre el perfil de riesgo y la capacidad financiera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402336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0" y="1691640"/>
            <a:ext cx="4144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riesgo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9402775" y="1783080"/>
            <a:ext cx="228600" cy="82296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40519" y="1783080"/>
            <a:ext cx="228600" cy="82296"/>
          </a:xfrm>
          <a:prstGeom prst="rect">
            <a:avLst/>
          </a:prstGeom>
          <a:solidFill>
            <a:srgbClr val="EAEFDF"/>
          </a:solidFill>
          <a:ln w="12700">
            <a:solidFill>
              <a:srgbClr val="EAEF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78263" y="1783080"/>
            <a:ext cx="228600" cy="82296"/>
          </a:xfrm>
          <a:prstGeom prst="rect">
            <a:avLst/>
          </a:prstGeom>
          <a:solidFill>
            <a:srgbClr val="DFE6CE"/>
          </a:solidFill>
          <a:ln w="12700">
            <a:solidFill>
              <a:srgbClr val="DFE6C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116007" y="1783080"/>
            <a:ext cx="228600" cy="82296"/>
          </a:xfrm>
          <a:prstGeom prst="rect">
            <a:avLst/>
          </a:prstGeom>
          <a:solidFill>
            <a:srgbClr val="D2DBBB"/>
          </a:solidFill>
          <a:ln w="12700">
            <a:solidFill>
              <a:srgbClr val="D2DBB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353751" y="1783080"/>
            <a:ext cx="228600" cy="82296"/>
          </a:xfrm>
          <a:prstGeom prst="rect">
            <a:avLst/>
          </a:prstGeom>
          <a:solidFill>
            <a:srgbClr val="C3CEA2"/>
          </a:solidFill>
          <a:ln w="12700">
            <a:solidFill>
              <a:srgbClr val="C3CEA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07440" y="1760220"/>
            <a:ext cx="128016" cy="128016"/>
          </a:xfrm>
          <a:prstGeom prst="ellipse">
            <a:avLst/>
          </a:prstGeom>
          <a:solidFill>
            <a:srgbClr val="2B30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82935" y="16916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de 10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120640" y="1993392"/>
            <a:ext cx="6522415" cy="0"/>
          </a:xfrm>
          <a:prstGeom prst="line">
            <a:avLst/>
          </a:prstGeom>
          <a:noFill/>
          <a:ln w="6350">
            <a:solidFill>
              <a:srgbClr val="C6CCB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0" y="2039112"/>
            <a:ext cx="41449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financiera</a:t>
            </a:r>
            <a:endParaRPr lang="en-US" sz="1150" dirty="0"/>
          </a:p>
          <a:p>
            <a:pPr indent="0" marL="0">
              <a:buNone/>
            </a:pPr>
            <a:r>
              <a:rPr lang="en-US" sz="85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6 de 7 componentes con dato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402775" y="2130552"/>
            <a:ext cx="228600" cy="82296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40519" y="2130552"/>
            <a:ext cx="228600" cy="82296"/>
          </a:xfrm>
          <a:prstGeom prst="rect">
            <a:avLst/>
          </a:prstGeom>
          <a:solidFill>
            <a:srgbClr val="EAEFDF"/>
          </a:solidFill>
          <a:ln w="12700">
            <a:solidFill>
              <a:srgbClr val="EAEFD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878263" y="2130552"/>
            <a:ext cx="228600" cy="82296"/>
          </a:xfrm>
          <a:prstGeom prst="rect">
            <a:avLst/>
          </a:prstGeom>
          <a:solidFill>
            <a:srgbClr val="DFE6CE"/>
          </a:solidFill>
          <a:ln w="12700">
            <a:solidFill>
              <a:srgbClr val="DFE6C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116007" y="2130552"/>
            <a:ext cx="228600" cy="82296"/>
          </a:xfrm>
          <a:prstGeom prst="rect">
            <a:avLst/>
          </a:prstGeom>
          <a:solidFill>
            <a:srgbClr val="D2DBBB"/>
          </a:solidFill>
          <a:ln w="12700">
            <a:solidFill>
              <a:srgbClr val="D2DBB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353751" y="2130552"/>
            <a:ext cx="228600" cy="82296"/>
          </a:xfrm>
          <a:prstGeom prst="rect">
            <a:avLst/>
          </a:prstGeom>
          <a:solidFill>
            <a:srgbClr val="C3CEA2"/>
          </a:solidFill>
          <a:ln w="12700">
            <a:solidFill>
              <a:srgbClr val="C3CEA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701921" y="2107692"/>
            <a:ext cx="128016" cy="128016"/>
          </a:xfrm>
          <a:prstGeom prst="ellipse">
            <a:avLst/>
          </a:prstGeom>
          <a:solidFill>
            <a:srgbClr val="2B30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82935" y="20391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de 10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120640" y="2496312"/>
            <a:ext cx="6522415" cy="0"/>
          </a:xfrm>
          <a:prstGeom prst="line">
            <a:avLst/>
          </a:prstGeom>
          <a:noFill/>
          <a:ln w="6350">
            <a:solidFill>
              <a:srgbClr val="C6CCB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57800" y="2542032"/>
            <a:ext cx="4144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totales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402775" y="2633472"/>
            <a:ext cx="228600" cy="82296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640519" y="2633472"/>
            <a:ext cx="228600" cy="82296"/>
          </a:xfrm>
          <a:prstGeom prst="rect">
            <a:avLst/>
          </a:prstGeom>
          <a:solidFill>
            <a:srgbClr val="EAEFDF"/>
          </a:solidFill>
          <a:ln w="12700">
            <a:solidFill>
              <a:srgbClr val="EAEFD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878263" y="2633472"/>
            <a:ext cx="228600" cy="82296"/>
          </a:xfrm>
          <a:prstGeom prst="rect">
            <a:avLst/>
          </a:prstGeom>
          <a:solidFill>
            <a:srgbClr val="DFE6CE"/>
          </a:solidFill>
          <a:ln w="12700">
            <a:solidFill>
              <a:srgbClr val="DFE6C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116007" y="2633472"/>
            <a:ext cx="228600" cy="82296"/>
          </a:xfrm>
          <a:prstGeom prst="rect">
            <a:avLst/>
          </a:prstGeom>
          <a:solidFill>
            <a:srgbClr val="D2DBBB"/>
          </a:solidFill>
          <a:ln w="12700">
            <a:solidFill>
              <a:srgbClr val="D2DBB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353751" y="2633472"/>
            <a:ext cx="228600" cy="82296"/>
          </a:xfrm>
          <a:prstGeom prst="rect">
            <a:avLst/>
          </a:prstGeom>
          <a:solidFill>
            <a:srgbClr val="C3CEA2"/>
          </a:solidFill>
          <a:ln w="12700">
            <a:solidFill>
              <a:srgbClr val="C3CEA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933127" y="2610612"/>
            <a:ext cx="128016" cy="128016"/>
          </a:xfrm>
          <a:prstGeom prst="ellipse">
            <a:avLst/>
          </a:prstGeom>
          <a:solidFill>
            <a:srgbClr val="2B30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682935" y="25420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de 10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120640" y="2843784"/>
            <a:ext cx="6522415" cy="0"/>
          </a:xfrm>
          <a:prstGeom prst="line">
            <a:avLst/>
          </a:prstGeom>
          <a:noFill/>
          <a:ln w="6350">
            <a:solidFill>
              <a:srgbClr val="C6CCB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257800" y="2889504"/>
            <a:ext cx="4144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totales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402775" y="2980944"/>
            <a:ext cx="228600" cy="82296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640519" y="2980944"/>
            <a:ext cx="228600" cy="82296"/>
          </a:xfrm>
          <a:prstGeom prst="rect">
            <a:avLst/>
          </a:prstGeom>
          <a:solidFill>
            <a:srgbClr val="EAEFDF"/>
          </a:solidFill>
          <a:ln w="12700">
            <a:solidFill>
              <a:srgbClr val="EAEFD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878263" y="2980944"/>
            <a:ext cx="228600" cy="82296"/>
          </a:xfrm>
          <a:prstGeom prst="rect">
            <a:avLst/>
          </a:prstGeom>
          <a:solidFill>
            <a:srgbClr val="DFE6CE"/>
          </a:solidFill>
          <a:ln w="12700">
            <a:solidFill>
              <a:srgbClr val="DFE6C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116007" y="2980944"/>
            <a:ext cx="228600" cy="82296"/>
          </a:xfrm>
          <a:prstGeom prst="rect">
            <a:avLst/>
          </a:prstGeom>
          <a:solidFill>
            <a:srgbClr val="D2DBBB"/>
          </a:solidFill>
          <a:ln w="12700">
            <a:solidFill>
              <a:srgbClr val="D2DBB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353751" y="2980944"/>
            <a:ext cx="228600" cy="82296"/>
          </a:xfrm>
          <a:prstGeom prst="rect">
            <a:avLst/>
          </a:prstGeom>
          <a:solidFill>
            <a:srgbClr val="C3CEA2"/>
          </a:solidFill>
          <a:ln w="12700">
            <a:solidFill>
              <a:srgbClr val="C3CEA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734611" y="2958084"/>
            <a:ext cx="128016" cy="128016"/>
          </a:xfrm>
          <a:prstGeom prst="ellipse">
            <a:avLst/>
          </a:prstGeom>
          <a:solidFill>
            <a:srgbClr val="2B30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682935" y="288950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de 10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120640" y="3191256"/>
            <a:ext cx="6522415" cy="0"/>
          </a:xfrm>
          <a:prstGeom prst="line">
            <a:avLst/>
          </a:prstGeom>
          <a:noFill/>
          <a:ln w="6350">
            <a:solidFill>
              <a:srgbClr val="C6CCB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257800" y="3236976"/>
            <a:ext cx="4144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Inversiones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9402775" y="3328416"/>
            <a:ext cx="228600" cy="82296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640519" y="3328416"/>
            <a:ext cx="228600" cy="82296"/>
          </a:xfrm>
          <a:prstGeom prst="rect">
            <a:avLst/>
          </a:prstGeom>
          <a:solidFill>
            <a:srgbClr val="EAEFDF"/>
          </a:solidFill>
          <a:ln w="12700">
            <a:solidFill>
              <a:srgbClr val="EAEFD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878263" y="3328416"/>
            <a:ext cx="228600" cy="82296"/>
          </a:xfrm>
          <a:prstGeom prst="rect">
            <a:avLst/>
          </a:prstGeom>
          <a:solidFill>
            <a:srgbClr val="DFE6CE"/>
          </a:solidFill>
          <a:ln w="12700">
            <a:solidFill>
              <a:srgbClr val="DFE6C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0116007" y="3328416"/>
            <a:ext cx="228600" cy="82296"/>
          </a:xfrm>
          <a:prstGeom prst="rect">
            <a:avLst/>
          </a:prstGeom>
          <a:solidFill>
            <a:srgbClr val="D2DBBB"/>
          </a:solidFill>
          <a:ln w="12700">
            <a:solidFill>
              <a:srgbClr val="D2DBB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0353751" y="3328416"/>
            <a:ext cx="228600" cy="82296"/>
          </a:xfrm>
          <a:prstGeom prst="rect">
            <a:avLst/>
          </a:prstGeom>
          <a:solidFill>
            <a:srgbClr val="C3CEA2"/>
          </a:solidFill>
          <a:ln w="12700">
            <a:solidFill>
              <a:srgbClr val="C3CEA2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131643" y="3305556"/>
            <a:ext cx="128016" cy="128016"/>
          </a:xfrm>
          <a:prstGeom prst="ellipse">
            <a:avLst/>
          </a:prstGeom>
          <a:solidFill>
            <a:srgbClr val="2B30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682935" y="32369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 de 10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5120640" y="3538728"/>
            <a:ext cx="6522415" cy="0"/>
          </a:xfrm>
          <a:prstGeom prst="line">
            <a:avLst/>
          </a:prstGeom>
          <a:noFill/>
          <a:ln w="6350">
            <a:solidFill>
              <a:srgbClr val="C6CCB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257800" y="3584448"/>
            <a:ext cx="4144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Desinversiones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9402775" y="3675888"/>
            <a:ext cx="228600" cy="82296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640519" y="3675888"/>
            <a:ext cx="228600" cy="82296"/>
          </a:xfrm>
          <a:prstGeom prst="rect">
            <a:avLst/>
          </a:prstGeom>
          <a:solidFill>
            <a:srgbClr val="EAEFDF"/>
          </a:solidFill>
          <a:ln w="12700">
            <a:solidFill>
              <a:srgbClr val="EAEFD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878263" y="3675888"/>
            <a:ext cx="228600" cy="82296"/>
          </a:xfrm>
          <a:prstGeom prst="rect">
            <a:avLst/>
          </a:prstGeom>
          <a:solidFill>
            <a:srgbClr val="DFE6CE"/>
          </a:solidFill>
          <a:ln w="12700">
            <a:solidFill>
              <a:srgbClr val="DFE6C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0116007" y="3675888"/>
            <a:ext cx="228600" cy="82296"/>
          </a:xfrm>
          <a:prstGeom prst="rect">
            <a:avLst/>
          </a:prstGeom>
          <a:solidFill>
            <a:srgbClr val="D2DBBB"/>
          </a:solidFill>
          <a:ln w="12700">
            <a:solidFill>
              <a:srgbClr val="D2DBB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353751" y="3675888"/>
            <a:ext cx="228600" cy="82296"/>
          </a:xfrm>
          <a:prstGeom prst="rect">
            <a:avLst/>
          </a:prstGeom>
          <a:solidFill>
            <a:srgbClr val="C3CEA2"/>
          </a:solidFill>
          <a:ln w="12700">
            <a:solidFill>
              <a:srgbClr val="C3CEA2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734611" y="3653028"/>
            <a:ext cx="128016" cy="128016"/>
          </a:xfrm>
          <a:prstGeom prst="ellipse">
            <a:avLst/>
          </a:prstGeom>
          <a:solidFill>
            <a:srgbClr val="2B30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0682935" y="35844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de 10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5120640" y="3886200"/>
            <a:ext cx="6522415" cy="0"/>
          </a:xfrm>
          <a:prstGeom prst="line">
            <a:avLst/>
          </a:prstGeom>
          <a:noFill/>
          <a:ln w="6350">
            <a:solidFill>
              <a:srgbClr val="C6CCB4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257800" y="3931920"/>
            <a:ext cx="4144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del portafolio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9402775" y="4023360"/>
            <a:ext cx="228600" cy="82296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640519" y="4023360"/>
            <a:ext cx="228600" cy="82296"/>
          </a:xfrm>
          <a:prstGeom prst="rect">
            <a:avLst/>
          </a:prstGeom>
          <a:solidFill>
            <a:srgbClr val="EAEFDF"/>
          </a:solidFill>
          <a:ln w="12700">
            <a:solidFill>
              <a:srgbClr val="EAEFD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878263" y="4023360"/>
            <a:ext cx="228600" cy="82296"/>
          </a:xfrm>
          <a:prstGeom prst="rect">
            <a:avLst/>
          </a:prstGeom>
          <a:solidFill>
            <a:srgbClr val="DFE6CE"/>
          </a:solidFill>
          <a:ln w="12700">
            <a:solidFill>
              <a:srgbClr val="DFE6CE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116007" y="4023360"/>
            <a:ext cx="228600" cy="82296"/>
          </a:xfrm>
          <a:prstGeom prst="rect">
            <a:avLst/>
          </a:prstGeom>
          <a:solidFill>
            <a:srgbClr val="D2DBBB"/>
          </a:solidFill>
          <a:ln w="12700">
            <a:solidFill>
              <a:srgbClr val="D2DBB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353751" y="4023360"/>
            <a:ext cx="228600" cy="82296"/>
          </a:xfrm>
          <a:prstGeom prst="rect">
            <a:avLst/>
          </a:prstGeom>
          <a:solidFill>
            <a:srgbClr val="C3CEA2"/>
          </a:solidFill>
          <a:ln w="12700">
            <a:solidFill>
              <a:srgbClr val="C3CEA2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338767" y="4000500"/>
            <a:ext cx="128016" cy="128016"/>
          </a:xfrm>
          <a:prstGeom prst="ellipse">
            <a:avLst/>
          </a:prstGeom>
          <a:solidFill>
            <a:srgbClr val="2B30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0682935" y="3931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de 10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5120640" y="4233672"/>
            <a:ext cx="6522415" cy="0"/>
          </a:xfrm>
          <a:prstGeom prst="line">
            <a:avLst/>
          </a:prstGeom>
          <a:noFill/>
          <a:ln w="6350">
            <a:solidFill>
              <a:srgbClr val="C6CCB4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257800" y="4279392"/>
            <a:ext cx="4144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liquidez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9402775" y="4370832"/>
            <a:ext cx="228600" cy="82296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9640519" y="4370832"/>
            <a:ext cx="228600" cy="82296"/>
          </a:xfrm>
          <a:prstGeom prst="rect">
            <a:avLst/>
          </a:prstGeom>
          <a:solidFill>
            <a:srgbClr val="EAEFDF"/>
          </a:solidFill>
          <a:ln w="12700">
            <a:solidFill>
              <a:srgbClr val="EAEFD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9878263" y="4370832"/>
            <a:ext cx="228600" cy="82296"/>
          </a:xfrm>
          <a:prstGeom prst="rect">
            <a:avLst/>
          </a:prstGeom>
          <a:solidFill>
            <a:srgbClr val="DFE6CE"/>
          </a:solidFill>
          <a:ln w="12700">
            <a:solidFill>
              <a:srgbClr val="DFE6CE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10116007" y="4370832"/>
            <a:ext cx="228600" cy="82296"/>
          </a:xfrm>
          <a:prstGeom prst="rect">
            <a:avLst/>
          </a:prstGeom>
          <a:solidFill>
            <a:srgbClr val="D2DBBB"/>
          </a:solidFill>
          <a:ln w="12700">
            <a:solidFill>
              <a:srgbClr val="D2DBBB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0353751" y="4370832"/>
            <a:ext cx="228600" cy="82296"/>
          </a:xfrm>
          <a:prstGeom prst="rect">
            <a:avLst/>
          </a:prstGeom>
          <a:solidFill>
            <a:srgbClr val="C3CEA2"/>
          </a:solidFill>
          <a:ln w="12700">
            <a:solidFill>
              <a:srgbClr val="C3CEA2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682935" y="42793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5120640" y="4581144"/>
            <a:ext cx="6522415" cy="0"/>
          </a:xfrm>
          <a:prstGeom prst="line">
            <a:avLst/>
          </a:prstGeom>
          <a:noFill/>
          <a:ln w="6350">
            <a:solidFill>
              <a:srgbClr val="C6CCB4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257800" y="4626864"/>
            <a:ext cx="4144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9402775" y="4718304"/>
            <a:ext cx="228600" cy="82296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9640519" y="4718304"/>
            <a:ext cx="228600" cy="82296"/>
          </a:xfrm>
          <a:prstGeom prst="rect">
            <a:avLst/>
          </a:prstGeom>
          <a:solidFill>
            <a:srgbClr val="EAEFDF"/>
          </a:solidFill>
          <a:ln w="12700">
            <a:solidFill>
              <a:srgbClr val="EAEFDF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9878263" y="4718304"/>
            <a:ext cx="228600" cy="82296"/>
          </a:xfrm>
          <a:prstGeom prst="rect">
            <a:avLst/>
          </a:prstGeom>
          <a:solidFill>
            <a:srgbClr val="DFE6CE"/>
          </a:solidFill>
          <a:ln w="12700">
            <a:solidFill>
              <a:srgbClr val="DFE6CE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0116007" y="4718304"/>
            <a:ext cx="228600" cy="82296"/>
          </a:xfrm>
          <a:prstGeom prst="rect">
            <a:avLst/>
          </a:prstGeom>
          <a:solidFill>
            <a:srgbClr val="D2DBBB"/>
          </a:solidFill>
          <a:ln w="12700">
            <a:solidFill>
              <a:srgbClr val="D2DBBB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0353751" y="4718304"/>
            <a:ext cx="228600" cy="82296"/>
          </a:xfrm>
          <a:prstGeom prst="rect">
            <a:avLst/>
          </a:prstGeom>
          <a:solidFill>
            <a:srgbClr val="C3CEA2"/>
          </a:solidFill>
          <a:ln w="12700">
            <a:solidFill>
              <a:srgbClr val="C3CEA2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9338767" y="4695444"/>
            <a:ext cx="128016" cy="128016"/>
          </a:xfrm>
          <a:prstGeom prst="ellipse">
            <a:avLst/>
          </a:prstGeom>
          <a:solidFill>
            <a:srgbClr val="2B30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10682935" y="46268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de 10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5120640" y="4928616"/>
            <a:ext cx="6522415" cy="0"/>
          </a:xfrm>
          <a:prstGeom prst="line">
            <a:avLst/>
          </a:prstGeom>
          <a:noFill/>
          <a:ln w="6350">
            <a:solidFill>
              <a:srgbClr val="C6CCB4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5120640" y="5047488"/>
            <a:ext cx="6522415" cy="0"/>
          </a:xfrm>
          <a:prstGeom prst="line">
            <a:avLst/>
          </a:prstGeom>
          <a:noFill/>
          <a:ln w="19050">
            <a:solidFill>
              <a:srgbClr val="2B3014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120640" y="5120640"/>
            <a:ext cx="5425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financiero</a:t>
            </a:r>
            <a:endParaRPr lang="en-US" sz="1250" dirty="0"/>
          </a:p>
        </p:txBody>
      </p:sp>
      <p:sp>
        <p:nvSpPr>
          <p:cNvPr id="88" name="Text 85"/>
          <p:cNvSpPr/>
          <p:nvPr/>
        </p:nvSpPr>
        <p:spPr>
          <a:xfrm>
            <a:off x="10545775" y="5120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de 10</a:t>
            </a:r>
            <a:endParaRPr lang="en-US" sz="1250" dirty="0"/>
          </a:p>
        </p:txBody>
      </p:sp>
      <p:sp>
        <p:nvSpPr>
          <p:cNvPr id="89" name="Text 86"/>
          <p:cNvSpPr/>
          <p:nvPr/>
        </p:nvSpPr>
        <p:spPr>
          <a:xfrm>
            <a:off x="5120640" y="5394960"/>
            <a:ext cx="6522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menor entre perfil de riesgo y capacidad</a:t>
            </a:r>
            <a:endParaRPr lang="en-US" sz="850" dirty="0"/>
          </a:p>
        </p:txBody>
      </p:sp>
      <p:sp>
        <p:nvSpPr>
          <p:cNvPr id="90" name="Text 87"/>
          <p:cNvSpPr/>
          <p:nvPr/>
        </p:nvSpPr>
        <p:spPr>
          <a:xfrm>
            <a:off x="5120640" y="5705856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financiero</a:t>
            </a:r>
            <a:endParaRPr lang="en-US" sz="1100" dirty="0"/>
          </a:p>
        </p:txBody>
      </p:sp>
      <p:sp>
        <p:nvSpPr>
          <p:cNvPr id="91" name="Text 88"/>
          <p:cNvSpPr/>
          <p:nvPr/>
        </p:nvSpPr>
        <p:spPr>
          <a:xfrm>
            <a:off x="9357055" y="5705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 conservador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del perfil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perfil de riesgo y de la capacidad financiera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2011680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4864" cy="2011680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108200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planificación confirma el perfil: la capacidad financiera (3.1) no es menor que el perfil de riesgo (3.9), así que el perfil financiero es el perfil de riesgo.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6428232"/>
                <a:gridCol w="17373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 de la capacidad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Puntaje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Ingresos totales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Cubren 95.0% de los gastos en 5 años · ingreso variable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de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Gastos totales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Gastos comprometidos: 20.5% de los ingresos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de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Entran 14.2% del portafolio en 5 años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 de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Desinversiones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Retiros de 25.2% del portafolio en 5 años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de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del portafolio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 veces el mínimo requerido con la cartera conservadora ($712 760)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de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 de liquidez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dato: no indicó su reserva de liquidez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años hasta el primer retiro del portafolio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de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de equilibrio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rendimiento mínimo que necesita el plan, frente a la cartera asignada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1528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1120" y="1783080"/>
            <a:ext cx="5221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DE EQUILIBRIO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421120" y="2039112"/>
            <a:ext cx="5221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21120" y="2697480"/>
            <a:ext cx="5221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ASIGNADA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421120" y="2953512"/>
            <a:ext cx="5221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6.0% · Moderado conservador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21120" y="3611880"/>
            <a:ext cx="5221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21120" y="3867912"/>
            <a:ext cx="5221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-1.4 pts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21120" y="4526280"/>
            <a:ext cx="5221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QUE EXIGE EL OBJETIVO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21120" y="4782312"/>
            <a:ext cx="5221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 agresivo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5532120"/>
            <a:ext cx="54864" cy="566928"/>
          </a:xfrm>
          <a:prstGeom prst="rect">
            <a:avLst/>
          </a:prstGeom>
          <a:solidFill>
            <a:srgbClr val="A2543A"/>
          </a:solidFill>
          <a:ln w="12700">
            <a:solidFill>
              <a:srgbClr val="A254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55321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sostener su gasto hasta los 95 años sin que el portafolio se agote, el plan necesita un rendimiento de 7.4% anual, por encima del 6.0% de la cartera asignada. Lo cubriría la cartera del perfil moderado agresivo, por encima del perfil financiero del cliente. Los caminos para alcanzar el objetivo se detallan más adelante.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asignada y cartera de equilibrio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cartera de equilibrio es la combinación de carteras modelo vecinas que rinde exactamente el rendimiento de equilibrio, con el menor riesgo posible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54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asignada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029968"/>
            <a:ext cx="554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 conservador · rinde 6.0%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524" y="2377440"/>
            <a:ext cx="2377440" cy="237744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76324" y="4846320"/>
          <a:ext cx="32918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011680"/>
                <a:gridCol w="9601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 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18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 fija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3BC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650992"/>
            <a:ext cx="554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 anual 8.6% · peor año -18.2% (1931)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95848" y="1691640"/>
            <a:ext cx="554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de equilibrio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095848" y="2029968"/>
            <a:ext cx="554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Rinde 7.4%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731" y="2377440"/>
            <a:ext cx="2377440" cy="2377440"/>
          </a:xfrm>
          <a:prstGeom prst="rect">
            <a:avLst/>
          </a:prstGeom>
        </p:spPr>
      </p:pic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531" y="4846320"/>
          <a:ext cx="32918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011680"/>
                <a:gridCol w="9601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 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18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 fija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3BC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" name="Text 8"/>
          <p:cNvSpPr/>
          <p:nvPr/>
        </p:nvSpPr>
        <p:spPr>
          <a:xfrm>
            <a:off x="6095848" y="5650992"/>
            <a:ext cx="554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 anual 14.6% · peor año -33.2% (1931)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548640" y="594360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volatilidad anual de cada cartera modelo con la serie de EE. UU. de 1928 a 2025 (A. Damodaran, NYU Stern).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del portafolio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nominal y en términos reales, de los 46 a los 95 años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11094415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86400"/>
            <a:ext cx="11094415" cy="621792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486400"/>
            <a:ext cx="54864" cy="621792"/>
          </a:xfrm>
          <a:prstGeom prst="rect">
            <a:avLst/>
          </a:prstGeom>
          <a:solidFill>
            <a:srgbClr val="A2543A"/>
          </a:solidFill>
          <a:ln w="12700">
            <a:solidFill>
              <a:srgbClr val="A254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486400"/>
            <a:ext cx="108200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¿Alcanza el plan? No alcanza: el portafolio se agota a los 83 años y deja sin cubrir US$540 746 de gasto, en dólares de hoy.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Caminos para alcanzar el objetivo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que, por sí solo y con todo lo demás igual, permite cumplir el objetivo. Montos en dólares de hoy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2011680"/>
                <a:gridCol w="469087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 rendimiento del portafolio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 la cartera del perfil moderado agresivo, por encima del perfil financiero del cliente y de su perfil de riesgo. (no basta por sí solo)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 capital inicial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US$250 000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US$472 798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Aporte único hoy de US$222 798.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Aporte anual adicional al portafolio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US$19 150 al año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Durante los 14 años de acumulación, en dólares de hoy (27% del ingreso anual).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gasto familiar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US$5 500 al 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US$4 883 al 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Reducción de 12% en todos los años.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Menores gastos extraordinarios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US$922 933 en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 eliminándolos alcanza. (no basta por sí solo)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Aporte mensual adicional a la pensión voluntaria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US$1 596 al 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Crece al 6,0% y se recibe al pensionarse, a los 65 años.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Postergar la independencia financiera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años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años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años más de ingreso por actividad y de aportes.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38344"/>
            <a:ext cx="11094415" cy="566928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038344"/>
            <a:ext cx="54864" cy="566928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038344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5 caminos que alcanzan el objetivo cada uno por sí solo: mayor capital inicial, aporte anual adicional al portafolio, menor gasto familiar, aporte mensual adicional a la pensión voluntaria o postergar la independencia financiera. También pueden combinarse; combinados, cada uno exige un ajuste menor.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aplicados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del asesor y datos del cuestionario con los que se calculó la proyección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364328" cy="411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cambio 450 colones por US$1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Inflación local 3.9%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Inflación internacional 3.9%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Inflación de la pensión del IVM 1%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Inflación del ROP 3.9%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Inflación de la pensión voluntaria 3.9%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hasta los 95 años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familiar 30% en dólares y 70% en colones, cada parte con la inflación de su moneda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5848" y="1737360"/>
            <a:ext cx="5364328" cy="411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Pensión estimada US$1 778 mensuales en dólares de hoy, desde los 65 años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ingresos recurrentes US$1 111 mensuales en dólares de hoy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extraordinarios: Seguro y marchamo de vehículos US$6 000 cada año desde 2027, Remodelación de la casa US$35 000 en 2030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Donaciones US$3 000 al año en dólares de hoy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neto de cada año (ingresos menos gastos, más desinversiones) entra al portafolio si es positivo y sale de él si es negativo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 de pensión (ROP, FCL, Pensión voluntaria) con rendimiento de 6% anual, según la Ley de Protección al Trabajador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 recibido como pensión mensual (retiro programado)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Montos expresados en dólares de los Estados Unidos.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Chotocruz &amp; Co.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Ficha de planificación · Cliente de ejemplo</dc:title>
  <dc:subject>PptxGenJS Presentation</dc:subject>
  <dc:creator>Chotocruz &amp; Co.</dc:creator>
  <cp:lastModifiedBy>Chotocruz &amp; Co.</cp:lastModifiedBy>
  <cp:revision>1</cp:revision>
  <dcterms:created xsi:type="dcterms:W3CDTF">2026-10-22T20:36:42Z</dcterms:created>
  <dcterms:modified xsi:type="dcterms:W3CDTF">2026-10-22T20:36:42Z</dcterms:modified>
</cp:coreProperties>
</file>