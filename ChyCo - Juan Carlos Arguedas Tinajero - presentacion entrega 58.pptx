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 dólares</c:v>
                </c:pt>
              </c:strCache>
            </c:strRef>
          </c:tx>
          <c:spPr>
            <a:solidFill>
              <a:srgbClr val="2B30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Ingresos</c:v>
                  </c:pt>
                  <c:pt idx="1">
                    <c:v>Gastos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80000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colones (en US$)</c:v>
                </c:pt>
              </c:strCache>
            </c:strRef>
          </c:tx>
          <c:spPr>
            <a:solidFill>
              <a:srgbClr val="B3BC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Ingresos</c:v>
                  </c:pt>
                  <c:pt idx="1">
                    <c:v>Gastos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60133</c:v>
                </c:pt>
                <c:pt idx="1">
                  <c:v>120000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6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</c:v>
                </c:pt>
              </c:strCache>
            </c:strRef>
          </c:tx>
          <c:spPr>
            <a:solidFill>
              <a:srgbClr val="2B30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oct 26</c:v>
                  </c:pt>
                  <c:pt idx="1">
                    <c:v>nov 26</c:v>
                  </c:pt>
                  <c:pt idx="2">
                    <c:v>dic 26</c:v>
                  </c:pt>
                  <c:pt idx="3">
                    <c:v>ene 27</c:v>
                  </c:pt>
                  <c:pt idx="4">
                    <c:v>feb 27</c:v>
                  </c:pt>
                  <c:pt idx="5">
                    <c:v>mar 27</c:v>
                  </c:pt>
                  <c:pt idx="6">
                    <c:v>abr 27</c:v>
                  </c:pt>
                  <c:pt idx="7">
                    <c:v>may 27</c:v>
                  </c:pt>
                  <c:pt idx="8">
                    <c:v>jun 27</c:v>
                  </c:pt>
                  <c:pt idx="9">
                    <c:v>jul 27</c:v>
                  </c:pt>
                  <c:pt idx="10">
                    <c:v>ago 27</c:v>
                  </c:pt>
                  <c:pt idx="11">
                    <c:v>sep 27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5011</c:v>
                </c:pt>
                <c:pt idx="1">
                  <c:v>5011</c:v>
                </c:pt>
                <c:pt idx="2">
                  <c:v>5011</c:v>
                </c:pt>
                <c:pt idx="3">
                  <c:v>5173</c:v>
                </c:pt>
                <c:pt idx="4">
                  <c:v>5173</c:v>
                </c:pt>
                <c:pt idx="5">
                  <c:v>5173</c:v>
                </c:pt>
                <c:pt idx="6">
                  <c:v>5173</c:v>
                </c:pt>
                <c:pt idx="7">
                  <c:v>5173</c:v>
                </c:pt>
                <c:pt idx="8">
                  <c:v>5173</c:v>
                </c:pt>
                <c:pt idx="9">
                  <c:v>5173</c:v>
                </c:pt>
                <c:pt idx="10">
                  <c:v>5173</c:v>
                </c:pt>
                <c:pt idx="11">
                  <c:v>5173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Gastos</c:v>
                </c:pt>
              </c:strCache>
            </c:strRef>
          </c:tx>
          <c:spPr>
            <a:solidFill>
              <a:srgbClr val="918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oct 26</c:v>
                  </c:pt>
                  <c:pt idx="1">
                    <c:v>nov 26</c:v>
                  </c:pt>
                  <c:pt idx="2">
                    <c:v>dic 26</c:v>
                  </c:pt>
                  <c:pt idx="3">
                    <c:v>ene 27</c:v>
                  </c:pt>
                  <c:pt idx="4">
                    <c:v>feb 27</c:v>
                  </c:pt>
                  <c:pt idx="5">
                    <c:v>mar 27</c:v>
                  </c:pt>
                  <c:pt idx="6">
                    <c:v>abr 27</c:v>
                  </c:pt>
                  <c:pt idx="7">
                    <c:v>may 27</c:v>
                  </c:pt>
                  <c:pt idx="8">
                    <c:v>jun 27</c:v>
                  </c:pt>
                  <c:pt idx="9">
                    <c:v>jul 27</c:v>
                  </c:pt>
                  <c:pt idx="10">
                    <c:v>ago 27</c:v>
                  </c:pt>
                  <c:pt idx="11">
                    <c:v>sep 27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11667</c:v>
                </c:pt>
                <c:pt idx="1">
                  <c:v>11667</c:v>
                </c:pt>
                <c:pt idx="2">
                  <c:v>11667</c:v>
                </c:pt>
                <c:pt idx="3">
                  <c:v>17317</c:v>
                </c:pt>
                <c:pt idx="4">
                  <c:v>17317</c:v>
                </c:pt>
                <c:pt idx="5">
                  <c:v>17317</c:v>
                </c:pt>
                <c:pt idx="6">
                  <c:v>17317</c:v>
                </c:pt>
                <c:pt idx="7">
                  <c:v>17317</c:v>
                </c:pt>
                <c:pt idx="8">
                  <c:v>17317</c:v>
                </c:pt>
                <c:pt idx="9">
                  <c:v>17317</c:v>
                </c:pt>
                <c:pt idx="10">
                  <c:v>17317</c:v>
                </c:pt>
                <c:pt idx="11">
                  <c:v>17317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CH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3270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"/>
            <a:ext cx="978408" cy="2103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56655" y="91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C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planificación financiera   |   Documento confidencial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3270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10528"/>
            <a:ext cx="201168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64739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DC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Chotocruz&amp;Co. Todos los derechos reservados.   |   Asesoría patrimonial independiente.   ·   29 de octubre de 2026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48640" y="61996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6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basada en los supuestos señalados; no constituye una garantía de resultados futuros.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1956816" cy="4206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788920"/>
            <a:ext cx="822960" cy="0"/>
          </a:xfrm>
          <a:prstGeom prst="line">
            <a:avLst/>
          </a:prstGeom>
          <a:noFill/>
          <a:ln w="31750">
            <a:solidFill>
              <a:srgbClr val="91804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926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DC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la Planificación Financiera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35935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Arguedas Tinajero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69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de octubre de 2026   ·   Documento Confidencial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5806440"/>
            <a:ext cx="41148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55504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presenta el diagnóstico de planificación financiera de Juan Carlos Arguedas Tinajero, preparado por Chotocruz &amp; Co. a partir de los cuestionarios de perfil de riesgo y de planificación financiera y de los supuestos para los mercados financieros en el largo plazo de la firma.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propósito es definir los objetivos financieros del cliente, definir su perfil de riesgo, cuantificar sus activos y pasivos, y mostrar cómo evolucionaría su situación financiera en el largo plazo.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41464" y="1124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18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41464" y="1490472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Objetivos del cliente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Perfil de riesgo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Proyección de Ingresos y gastos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Proyección del portafolio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Rendimiento de equilibrio y portafolio sugerido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Supuestos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5257800"/>
            <a:ext cx="54864" cy="548640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2578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cifras son estimaciones basadas en la información declarada y en los supuestos señalados; no constituyen una garantía de resultados futuros ni una recomendación de inversión.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Financieros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455768" cy="137160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55768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54480"/>
            <a:ext cx="512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FINANCIERA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512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Alcanzada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512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de sus ingresos y del portafolio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87288" y="1417320"/>
            <a:ext cx="5455768" cy="137160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7288" y="1417320"/>
            <a:ext cx="5455768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1880" y="1554480"/>
            <a:ext cx="512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FAMILIAR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51880" y="1828800"/>
            <a:ext cx="512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US$11 111 al mes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51880" y="2286000"/>
            <a:ext cx="512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retiro, 100% del gasto actual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044952"/>
            <a:ext cx="7616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CLIENTE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300984"/>
            <a:ext cx="11094415" cy="0"/>
          </a:xfrm>
          <a:prstGeom prst="line">
            <a:avLst/>
          </a:prstGeom>
          <a:noFill/>
          <a:ln w="9525">
            <a:solidFill>
              <a:srgbClr val="C6CC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00984"/>
            <a:ext cx="384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18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9264" y="3300984"/>
            <a:ext cx="10680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Preservación del patrimonio: </a:t>
            </a:r>
            <a:pPr indent="0" marL="0">
              <a:buNone/>
            </a:pPr>
            <a:r>
              <a:rPr lang="en-US" sz="12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el capital acumulado, priorizando inversiones de alta calidad crediticia y un nivel de riesgo conservador.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11094415" cy="0"/>
          </a:xfrm>
          <a:prstGeom prst="line">
            <a:avLst/>
          </a:prstGeom>
          <a:noFill/>
          <a:ln w="9525">
            <a:solidFill>
              <a:srgbClr val="C6CC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85616"/>
            <a:ext cx="384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18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9264" y="3785616"/>
            <a:ext cx="10680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 financiera durante el retiro: </a:t>
            </a:r>
            <a:pPr indent="0" marL="0">
              <a:buNone/>
            </a:pPr>
            <a:r>
              <a:rPr lang="en-US" sz="12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ingresos que permitan cubrir los gastos familiares y mantener el estilo de vida a largo plazo.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70248"/>
            <a:ext cx="11094415" cy="0"/>
          </a:xfrm>
          <a:prstGeom prst="line">
            <a:avLst/>
          </a:prstGeom>
          <a:noFill/>
          <a:ln w="9525">
            <a:solidFill>
              <a:srgbClr val="C6CC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70248"/>
            <a:ext cx="384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18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9264" y="4270248"/>
            <a:ext cx="10680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sucesoria: </a:t>
            </a:r>
            <a:pPr indent="0" marL="0">
              <a:buNone/>
            </a:pPr>
            <a:r>
              <a:rPr lang="en-US" sz="12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Preservar el patrimonio para su eventual transferencia a las siguientes generaciones.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94415" cy="0"/>
          </a:xfrm>
          <a:prstGeom prst="line">
            <a:avLst/>
          </a:prstGeom>
          <a:noFill/>
          <a:ln w="9525">
            <a:solidFill>
              <a:srgbClr val="C6CC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54880"/>
            <a:ext cx="384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18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9264" y="4754880"/>
            <a:ext cx="10680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Diversificación internacional: </a:t>
            </a:r>
            <a:pPr indent="0" marL="0">
              <a:buNone/>
            </a:pPr>
            <a:r>
              <a:rPr lang="en-US" sz="12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concentración de inversiones en Costa Rica mediante una mayor exposición a mercados internacionales.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239512"/>
            <a:ext cx="11094415" cy="0"/>
          </a:xfrm>
          <a:prstGeom prst="line">
            <a:avLst/>
          </a:prstGeom>
          <a:noFill/>
          <a:ln w="9525">
            <a:solidFill>
              <a:srgbClr val="C6CC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239512"/>
            <a:ext cx="384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18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9264" y="5239512"/>
            <a:ext cx="10680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del capital disponible: </a:t>
            </a:r>
            <a:pPr indent="0" marL="0">
              <a:buNone/>
            </a:pPr>
            <a:r>
              <a:rPr lang="en-US" sz="12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gradualmente el capital mantenido en liquidez a una estrategia de inversión alineada con sus objetivos y perfil de riesgo.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24144"/>
            <a:ext cx="11094415" cy="0"/>
          </a:xfrm>
          <a:prstGeom prst="line">
            <a:avLst/>
          </a:prstGeom>
          <a:noFill/>
          <a:ln w="9525">
            <a:solidFill>
              <a:srgbClr val="C6CCB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cliente: cifras clave, activos y pasivos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en orden de liquidez y pasivos en orden de exigibilidad, en dólares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28216"/>
            <a:ext cx="7114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· en orden de liquidez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4832"/>
          <a:ext cx="7114032" cy="914400"/>
        </p:xfrm>
        <a:graphic>
          <a:graphicData uri="http://schemas.openxmlformats.org/drawingml/2006/table">
            <a:tbl>
              <a:tblPr/>
              <a:tblGrid>
                <a:gridCol w="3174797"/>
                <a:gridCol w="1206094"/>
                <a:gridCol w="1651406"/>
                <a:gridCol w="10817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(US$)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Portafolio de inversión (este portafolio)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Inmediata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Inmueble: CASA PARA ALQUILER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US$400 000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Inmueble: CASA PLAYA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US$300 000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Inmueble: OFICINA DE ALQUILER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US$120 000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privado: Daki (monto invertido)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US$500 000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activos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US$11 320 000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964424" y="2084832"/>
            <a:ext cx="3685032" cy="1115568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964424" y="2084832"/>
            <a:ext cx="3685032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223113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TOTAL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138160" y="2459736"/>
            <a:ext cx="3337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US$11 320 000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38160" y="284378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los cinco activos declarados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64424" y="3355848"/>
            <a:ext cx="3685032" cy="1115568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64424" y="3355848"/>
            <a:ext cx="3685032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35021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LÍQUIDO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138160" y="3730752"/>
            <a:ext cx="3337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88,3% del patrimonio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138160" y="41148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portafolio de inversión, US$10 000 000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64424" y="4626864"/>
            <a:ext cx="3685032" cy="1115568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64424" y="4626864"/>
            <a:ext cx="3685032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477316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PASIVOS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138160" y="5001768"/>
            <a:ext cx="3337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138160" y="538581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no declaró deudas ni pasivos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5358384"/>
            <a:ext cx="711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pPr indent="0" marL="0">
              <a:buNone/>
            </a:pPr>
            <a:r>
              <a:rPr lang="en-US" sz="11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no tiene pasivos.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y gastos por moneda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Montos en valor de hoy, según la moneda en que el cliente los declaró · colones en US$ al tipo de cambio de 450 colones por dólar · total dolarizado: colones en US$ más dólares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3931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45920"/>
          <a:ext cx="6888175" cy="914400"/>
        </p:xfrm>
        <a:graphic>
          <a:graphicData uri="http://schemas.openxmlformats.org/drawingml/2006/table">
            <a:tbl>
              <a:tblPr/>
              <a:tblGrid>
                <a:gridCol w="2407615"/>
                <a:gridCol w="1097280"/>
                <a:gridCol w="1097280"/>
                <a:gridCol w="1097280"/>
                <a:gridCol w="1188720"/>
              </a:tblGrid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Colones (CRC)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Colones en US$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Dólares (US$)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dolarizado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1965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INGRESOS RECURRENTES · AL AÑO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Pensión IVM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6 300 000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US$14 000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US$14 000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Alquiler: CASA PARA ALQUILER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13 200 000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US$29 333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US$29 333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Alquiler: CASA PLAYA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3 000 000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US$6 667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US$6 667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Alquiler: OFICINA DE ALQUILER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4 560 000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US$10 133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US$10 133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ingresos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27 060 000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US$60 133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US$60 133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GASTOS RECURRENTES · AL AÑO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familiar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51 000 000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US$113 333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US$133 333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Donaciones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3 000 000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US$6 667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US$6 667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Mantenimientos de propiedades (cada año)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US$15 000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US$15 000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Viaje 1 (cada año)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Viaje 2 (cada año)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Viaje 3 (cada año)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gastos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54 000 000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US$120 000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US$80 000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5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GASTOS PUNTUALES Y METAS · EN SU AÑO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Retiro: Retiro del portafolio (2027)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486400"/>
            <a:ext cx="11094415" cy="502920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48640" y="5486400"/>
            <a:ext cx="54864" cy="502920"/>
          </a:xfrm>
          <a:prstGeom prst="rect">
            <a:avLst/>
          </a:prstGeom>
          <a:solidFill>
            <a:srgbClr val="A2543A"/>
          </a:solidFill>
          <a:ln w="12700">
            <a:solidFill>
              <a:srgbClr val="A2543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548640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colones gasta US$59 867 al año más de lo que recibe en colones: esa parte se paga con dólares y queda expuesta al tipo de cambio. Gastos puntuales y metas del horizonte: US$25 000 en dólares y US$0 en colones dolarizados.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Extraordinarios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61061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y compromisos del plan · montos en dólares de hoy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76956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554480"/>
                <a:gridCol w="2011680"/>
                <a:gridCol w="331927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237744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RETIROS DEL PORTAFOLIO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Retiro del portafolio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US$25 000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vez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GASTOS EXTRAORDINARIOS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Mantenimientos de propiedades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US$15 000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Viaje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Viaje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Viaje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US$25 000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y gastos de los próximos 12 meses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octubre 2026 a septiembre 2027 · dólares nominales · sin promedios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5669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DE LOS PRÓXIMOS 12 MESES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48640" y="4910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US$61 588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2943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recurrentes US$61 588 · puntuales US$0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468880" y="4526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 LOS PRÓXIMOS 12 MESES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468880" y="4910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US$216 825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468880" y="52943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recurrentes US$190 850 · puntuales US$25 975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389120" y="4526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NETO DE LOS PRÓXIMOS 12 MESES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389120" y="4910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2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-US$155 237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389120" y="52943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cubre el portafolio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00200"/>
          <a:ext cx="5150815" cy="914400"/>
        </p:xfrm>
        <a:graphic>
          <a:graphicData uri="http://schemas.openxmlformats.org/drawingml/2006/table">
            <a:tbl>
              <a:tblPr/>
              <a:tblGrid>
                <a:gridCol w="1310335"/>
                <a:gridCol w="1280160"/>
                <a:gridCol w="1280160"/>
                <a:gridCol w="128016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neto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Octubre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US$5 011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US$11 667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-US$6 656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Noviembre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US$5 011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US$11 667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-US$6 656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Diciembre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US$5 011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US$11 667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-US$6 656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Enero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US$5 173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US$17 317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-US$12 144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Febrero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US$5 173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US$17 317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-US$12 144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Marzo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US$5 173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US$17 317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-US$12 144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Abril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US$5 173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US$17 317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-US$12 144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US$5 173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US$17 317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-US$12 144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US$5 173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US$17 317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-US$12 144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Julio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US$5 173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US$17 317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-US$12 144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Agosto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US$5 173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US$17 317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-US$12 144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Septiembre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US$5 173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US$17 317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25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-US$12 144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Puntuales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US$25 975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-US$25 975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12 meses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US$61 588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US$216 825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-US$155 237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48640" y="5852160"/>
            <a:ext cx="11094415" cy="384048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5852160"/>
            <a:ext cx="54864" cy="38404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1520" y="585216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mes, los ingresos y gastos recurrentes: actividad, pensiones, alquileres, gasto familiar, dependientes, donaciones, cuotas y los gastos extraordinarios que se repiten cada año. Los montos puntuales (ingresos y gastos de una sola vez, metas y retiros del portafolio) solo tienen año: van en una fila por año y entran al total. Las ventas de activos no se incluyen.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riesgo (cuestionario 1), que define la cartera, y resumen de activos y pasivos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63240" y="1645920"/>
            <a:ext cx="5321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riesgo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011680"/>
            <a:ext cx="2651760" cy="265176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148840"/>
          <a:ext cx="2532888" cy="914400"/>
        </p:xfrm>
        <a:graphic>
          <a:graphicData uri="http://schemas.openxmlformats.org/drawingml/2006/table">
            <a:tbl>
              <a:tblPr/>
              <a:tblGrid>
                <a:gridCol w="1572768"/>
                <a:gridCol w="960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Tolerancia al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 de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Apetito de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 de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063240" y="4846320"/>
            <a:ext cx="5321808" cy="0"/>
          </a:xfrm>
          <a:prstGeom prst="line">
            <a:avLst/>
          </a:prstGeom>
          <a:noFill/>
          <a:ln w="19050">
            <a:solidFill>
              <a:srgbClr val="2B301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063240" y="491947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del perfil de riesgo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287768" y="4919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 de 10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063240" y="5193792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ponderado de las diez preguntas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063240" y="550468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riesgo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099048" y="5504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cliente: cifras clave, activos y pasivos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en orden de liquidez y pasivos en orden de exigibilidad, en dólares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268980"/>
            <a:ext cx="2072579" cy="132588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68980"/>
            <a:ext cx="2072579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406140"/>
            <a:ext cx="17433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RIESGO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3808476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4265676"/>
            <a:ext cx="174339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1 · puntaje 4,6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04099" y="3268980"/>
            <a:ext cx="2072579" cy="132588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4099" y="3268980"/>
            <a:ext cx="2072579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8691" y="3406140"/>
            <a:ext cx="17433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ESPERADO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68691" y="3808476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68691" y="4265676"/>
            <a:ext cx="174339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del perfil moderado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59558" y="3268980"/>
            <a:ext cx="2072579" cy="132588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59558" y="3268980"/>
            <a:ext cx="2072579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24150" y="3406140"/>
            <a:ext cx="17433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MÍNIMO NECESARIO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24150" y="3808476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24150" y="4265676"/>
            <a:ext cx="174339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 equilibrio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017" y="3268980"/>
            <a:ext cx="2072579" cy="132588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017" y="3268980"/>
            <a:ext cx="2072579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9609" y="3406140"/>
            <a:ext cx="17433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MÍNIMO REQUERIDO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79609" y="3808476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US$8 171 298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79609" y="4265676"/>
            <a:ext cx="174339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actual US$10 000 000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570476" y="3268980"/>
            <a:ext cx="2072579" cy="132588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70476" y="3268980"/>
            <a:ext cx="2072579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35068" y="3406140"/>
            <a:ext cx="17433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RETIRO INICIAL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735068" y="3808476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1,7%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735068" y="4265676"/>
            <a:ext cx="174339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neto del primer año de retiro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 equilibrio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mínimo que necesita el plan, frente a la cartera sugerida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1528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1120" y="1783080"/>
            <a:ext cx="5221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 EQUILIBRIO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21120" y="2039112"/>
            <a:ext cx="522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21120" y="2697480"/>
            <a:ext cx="5221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SUGERIDA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21120" y="2953512"/>
            <a:ext cx="522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6,7% · Moderado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21120" y="3611880"/>
            <a:ext cx="5221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HOLGURA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21120" y="3867912"/>
            <a:ext cx="522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+0,8 pts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21120" y="4526280"/>
            <a:ext cx="5221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QUE EXIGE EL OBJETIVO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21120" y="4782312"/>
            <a:ext cx="522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5532120"/>
            <a:ext cx="54864" cy="56692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sostener su gasto hasta los 95 años y dejar una herencia de US$12 300 000 en dólares de hoy, el plan necesita un rendimiento de 5,9% anual. La cartera del perfil moderado rinde 6,7%: el objetivo se cumple con una holgura de 0,8 puntos.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del portafolio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nominal y en términos reales, de los 67 a los 100 años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94415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11094415" cy="621792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486400"/>
            <a:ext cx="54864" cy="621792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486400"/>
            <a:ext cx="108200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¿Alcanza el plan? Sí alcanza: el portafolio cubre todos los años y deja US$16 747 783 en dólares de hoy, por encima de la herencia de US$12 300 000.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¿Alcanza el plan?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y sus razones, con las cifras de toda la proyección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566928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56692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alcanza: el portafolio cubre todos los años y deja US$16 747 783 en dólares de hoy, por encima de la herencia de US$12 300 000.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sale y a dónde va el dinero del plan · 34 años, dólares nominales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51760"/>
            <a:ext cx="6126480" cy="311646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49440" y="2331720"/>
            <a:ext cx="2255368" cy="169164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0" y="2331720"/>
            <a:ext cx="2255368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2468880"/>
            <a:ext cx="1981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RENDIMIENTOS FRENTE AL FALTANTE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86600" y="2807208"/>
            <a:ext cx="1981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 veces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086600" y="3246120"/>
            <a:ext cx="1981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34 años los gastos superan a los ingresos en US$9 885 172; los rendimientos suman US$59 647 056.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387688" y="2331720"/>
            <a:ext cx="2255368" cy="169164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387688" y="2331720"/>
            <a:ext cx="2255368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24848" y="2468880"/>
            <a:ext cx="1981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 RENDIMIENTO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524848" y="2807208"/>
            <a:ext cx="1981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+0,8 pts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524848" y="3246120"/>
            <a:ext cx="1981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5,9% anual; la cartera sugerida rinde 6,7%.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49440" y="4206240"/>
            <a:ext cx="2255368" cy="169164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49440" y="4206240"/>
            <a:ext cx="2255368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86600" y="4343400"/>
            <a:ext cx="1981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FINAL REAL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086600" y="4681728"/>
            <a:ext cx="1981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US$16 747 783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086600" y="5120640"/>
            <a:ext cx="1981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agota. En 2059 cierra con US$59 761 884 nominales.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387688" y="4206240"/>
            <a:ext cx="2255368" cy="1691640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387688" y="4206240"/>
            <a:ext cx="2255368" cy="54864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24848" y="4343400"/>
            <a:ext cx="1981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FRENTE AL OBJETIVO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9524848" y="4681728"/>
            <a:ext cx="1981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+US$4 447 783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524848" y="5120640"/>
            <a:ext cx="1981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deseada: US$12 300 000 en dólares de hoy.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sugerida y cartera de equilibrio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cartera de equilibrio es la combinación de carteras modelo vecinas que rinde exactamente el rendimiento de equilibrio, con el menor riesgo posible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54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sugerida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29968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· rinde 6,7%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4964" y="2377440"/>
            <a:ext cx="2194560" cy="219456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76324" y="4709160"/>
          <a:ext cx="32918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011680"/>
                <a:gridCol w="9601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 fija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3B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614416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 anual 10,4% · peor año -23,0% (1931)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95848" y="1691640"/>
            <a:ext cx="554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de equilibrio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095848" y="2029968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Rinde 5,9%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171" y="2377440"/>
            <a:ext cx="2194560" cy="2194560"/>
          </a:xfrm>
          <a:prstGeom prst="rect">
            <a:avLst/>
          </a:prstGeom>
        </p:spPr>
      </p:pic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531" y="4709160"/>
          <a:ext cx="32918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011680"/>
                <a:gridCol w="9601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0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 fija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3B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6095848" y="5614416"/>
            <a:ext cx="554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 anual 8,0% · peor año -16,6% (1931)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548640" y="601675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modelo ajustada a los topes del perfil moderado: renta variable de 60% a 50%, renta fija de 35% a 45%. Riesgo: volatilidad anual de cada cartera con la serie de EE. UU. de 1928 a 2025 (A. Damodaran, NYU Stern).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del portafolio en colones para cubrir gastos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del portafolio debe estar en bonos en colones para que sus intereses paguen los gastos en colones; el resto de la renta fija va a EE. UU.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566928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56692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pagar US$120 000 al año de gastos en colones con los intereses de bonos locales al 6,0%, necesita US$2 000 000 en Costa Rica (20,0% del portafolio). La renta fija de su cartera (45,0%, US$4 500 000) lo cubre. De esa renta fija, 44,4% va a bonos en Costa Rica (US$2 000 000) y 55,6% a bonos en EE. UU. (US$2 500 000).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74320" cy="274320"/>
          </a:xfrm>
          <a:prstGeom prst="ellipse">
            <a:avLst/>
          </a:prstGeom>
          <a:solidFill>
            <a:srgbClr val="2B3014"/>
          </a:solidFill>
          <a:ln w="12700">
            <a:solidFill>
              <a:srgbClr val="2B30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34086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del cliente, por moneda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70662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hoy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  <a:gridCol w="777240"/>
                <a:gridCol w="868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Dólares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₡4 500 000 (US$10 000)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US$6 667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US$16 667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año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₡54 000 000 (US$120 000)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US$80 000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US$200 000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del gasto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937760" y="2377440"/>
            <a:ext cx="274320" cy="274320"/>
          </a:xfrm>
          <a:prstGeom prst="ellipse">
            <a:avLst/>
          </a:prstGeom>
          <a:solidFill>
            <a:srgbClr val="2B3014"/>
          </a:solidFill>
          <a:ln w="12700">
            <a:solidFill>
              <a:srgbClr val="2B301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03520" y="23408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en colones que paga ese gasto con sus intereses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0" y="3154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₡54 000 000 ÷ 6,0% = ₡900 000 000 = US$2 000 000 (20,0% del portafolio)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0" y="2377440"/>
            <a:ext cx="274320" cy="274320"/>
          </a:xfrm>
          <a:prstGeom prst="ellipse">
            <a:avLst/>
          </a:prstGeom>
          <a:solidFill>
            <a:srgbClr val="2B3014"/>
          </a:solidFill>
          <a:ln w="12700">
            <a:solidFill>
              <a:srgbClr val="2B301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95360" y="2340864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 fija de la cartera sugerida: 45,0% del portafolio = 100%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95360" y="2706624"/>
            <a:ext cx="3001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 primero, hasta el capital requerido; el resto, EE. UU.</a:t>
            </a:r>
            <a:endParaRPr lang="en-US" sz="8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6228" y="3154680"/>
            <a:ext cx="1600200" cy="1600200"/>
          </a:xfrm>
          <a:prstGeom prst="rect">
            <a:avLst/>
          </a:prstGeom>
        </p:spPr>
      </p:pic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4846320"/>
          <a:ext cx="3413455" cy="914400"/>
        </p:xfrm>
        <a:graphic>
          <a:graphicData uri="http://schemas.openxmlformats.org/drawingml/2006/table">
            <a:tbl>
              <a:tblPr/>
              <a:tblGrid>
                <a:gridCol w="2133295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 fija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la renta fija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18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Costa Rica · bonos en colones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B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 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EE. UU. · bonos en dólares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renta fija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del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dónde puede moverse cada variable, una a la vez y con todo lo demás igual, sin que el plan deje de alcanzar el objetivo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51176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2011680"/>
                <a:gridCol w="46908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Rendimiento del portafolio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de 0,8 puntos; alcanzaría con la cartera del perfil moderado.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US$10 000 000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US$8 171 298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Alcanzaría con US$1 828 702 menos.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familiar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US$11 111 al 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US$18 190 al 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Podría aumentar hasta 63% en todos los años.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Herencia (en dólares de hoy)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US$12 300 000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US$16 747 783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666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saldo final real supera la herencia en US$4 447 783.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45736"/>
            <a:ext cx="11094415" cy="566928"/>
          </a:xfrm>
          <a:prstGeom prst="rect">
            <a:avLst/>
          </a:prstGeom>
          <a:solidFill>
            <a:srgbClr val="F5F7EF"/>
          </a:solidFill>
          <a:ln w="12700">
            <a:solidFill>
              <a:srgbClr val="F5F7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745736"/>
            <a:ext cx="54864" cy="56692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74573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alcanza el objetivo. La tabla muestra hasta dónde puede moverse cada variable, con todo lo demás igual, sin que el plan deje de alcanzarlo.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para la toma de decisiones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dicen los datos del cliente y la proyección sobre su plan · en rojo, lo que requiere atención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13248" cy="1399032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1399032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RENDIMIENTOS DEL PORTAFOLIO (MÍNIMO REQUERIDO VS RENDIMIENTO ESPERADO)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5,9% vs 6,7%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673352"/>
            <a:ext cx="26243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necesita como mínimo 5,9% anual (rendimiento de equilibrio) y la cartera sugerida rinde 6,7%: holgura de 0,8 puntos.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6208" y="1600200"/>
            <a:ext cx="5413248" cy="1399032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6208" y="1600200"/>
            <a:ext cx="54864" cy="1399032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RETIROS DEL PORTAFOLIO / PORTAFOLIO TOTAL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19088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87968" y="1673352"/>
            <a:ext cx="26243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 1,7% del portafolio al año, dentro de la referencia del 4% que se considera sostenible a largo plazo (Bengen, 1994).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182112"/>
            <a:ext cx="5413248" cy="1399032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82112"/>
            <a:ext cx="54864" cy="1399032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73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REAL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" y="3685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3255264"/>
            <a:ext cx="26243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cartera rinde 6,7% y la inflación en dólares es 3,9%: el portafolio crece 2,8% al año en poder de compra. Los gastos en colones crecen con la inflación local (3,9%).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36208" y="3182112"/>
            <a:ext cx="5413248" cy="1399032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3182112"/>
            <a:ext cx="54864" cy="1399032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3273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SUGERIDO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19088" y="3685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· 6,7%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87968" y="3255264"/>
            <a:ext cx="26243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del perfil moderado: renta variable 50%, renta fija 45% y efectivo 5%. Volatilidad anual 10,4%; peor año -23,0% (1931).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764024"/>
            <a:ext cx="5413248" cy="1399032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764024"/>
            <a:ext cx="54864" cy="1399032"/>
          </a:xfrm>
          <a:prstGeom prst="rect">
            <a:avLst/>
          </a:prstGeom>
          <a:solidFill>
            <a:srgbClr val="A2543A"/>
          </a:solidFill>
          <a:ln w="12700">
            <a:solidFill>
              <a:srgbClr val="A254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554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AL COLÓN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1520" y="52669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25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60,0% del gasto total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00400" y="4837176"/>
            <a:ext cx="26243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 US$59 867 al año más en colones de lo que recibe en colones: esa parte se paga con dólares del portafolio y depende del tipo de cambio. La sección de renta fija en Costa Rica muestra cómo cubrirla.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36208" y="4764024"/>
            <a:ext cx="5413248" cy="1399032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36208" y="4764024"/>
            <a:ext cx="54864" cy="1399032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48554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RIESGO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19088" y="52669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87968" y="4837176"/>
            <a:ext cx="26243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4,6 de 10 (tolerancia 6,4, apetito 3,0). El objetivo exige el perfil moderado: la cartera sugerida es coherente con su perfil.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para poner en marcha el plan, en orden de ejecución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94415" cy="886968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27632"/>
            <a:ext cx="54864" cy="88696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7589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18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1627632"/>
            <a:ext cx="9701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 de acuerdos de asesoría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4415" cy="886968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43200"/>
            <a:ext cx="54864" cy="88696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7589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18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91640" y="2743200"/>
            <a:ext cx="9701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de cuenta en banco del exterior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858768"/>
            <a:ext cx="11094415" cy="886968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58768"/>
            <a:ext cx="54864" cy="88696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58768"/>
            <a:ext cx="7589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18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91640" y="3858768"/>
            <a:ext cx="9701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estrategia de inversión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974336"/>
            <a:ext cx="11094415" cy="886968"/>
          </a:xfrm>
          <a:prstGeom prst="rect">
            <a:avLst/>
          </a:prstGeom>
          <a:solidFill>
            <a:srgbClr val="F5F7EF"/>
          </a:solidFill>
          <a:ln w="9525">
            <a:solidFill>
              <a:srgbClr val="C6CC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974336"/>
            <a:ext cx="54864" cy="886968"/>
          </a:xfrm>
          <a:prstGeom prst="rect">
            <a:avLst/>
          </a:prstGeom>
          <a:solidFill>
            <a:srgbClr val="918042"/>
          </a:solidFill>
          <a:ln w="12700">
            <a:solidFill>
              <a:srgbClr val="918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74336"/>
            <a:ext cx="7589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18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691640" y="4974336"/>
            <a:ext cx="97017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estructura legal y fiscal actual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del portafolio en colones: detalle del cálculo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anual por moneda, capital requerido en Costa Rica y renta fija de la cartera sugerida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Gasto anual por moneda · valor de hoy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400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005840"/>
                <a:gridCol w="1005840"/>
                <a:gridCol w="10058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Colones (₡)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US$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Dólares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familiar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51 000 000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US$113 333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US$133 333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Donaciones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3 000 000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US$6 667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US$6 667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Mantenimientos de propiedades (cada año)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US$15 000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US$15 000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Viaje 1 (cada año)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Viaje 2 (cada año)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Viaje 3 (cada año)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gastos al año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54 000 000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US$120 000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US$80 000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223760" y="178308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Capital requerido en Costa Rica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23760" y="2075688"/>
            <a:ext cx="4419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anual en colones ÷ rendimiento de los bonos locales: sus intereses pagan el gasto sin consumir el capital. ₡54 000 000 al año ÷ 6,0% = ₡900 000 000 (US$2 000 000 al tipo de cambio de 450)</a:t>
            </a:r>
            <a:endParaRPr lang="en-US" sz="9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697480"/>
          <a:ext cx="441929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25880"/>
                <a:gridCol w="960120"/>
                <a:gridCol w="761695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Rendimiento (asesor)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(₡)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US$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port.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900 000 000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US$2 000 000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223760" y="342900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Renta fija de la cartera sugerida · perfil moderado · 45,0% del portafolio (tope 60,0%)</a:t>
            </a:r>
            <a:endParaRPr lang="en-US" sz="110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3749040"/>
          <a:ext cx="4419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68680"/>
                <a:gridCol w="777240"/>
                <a:gridCol w="761695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 fija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la RF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port.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(US$)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Bonos en Costa Rica · colones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US$2 000 000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Bonos en EE. UU. · dólares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US$2 500 000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renta fija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US$4 500 000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2004" marR="32004" marT="32004" marB="32004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el cliente también recibe US$60 133 al año en colones (pensión, alquileres u otros). Si esos ingresos pagan parte de los gastos en colones, el capital requerido en Costa Rica baja a US$997 778.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del plan: metodología de cálculo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sale cada cifra, con los datos del cliente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98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por bisección, 40 pruebas por variable: en cada prueba se recalcula la proyección y se verifica el objetivo (ningún año sin cubrir y saldo final real igual o mayor que la herencia).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prueban rendimientos entre 0% y 30%. El menor con el que se cumple el objetivo es 5,9% (rendimiento de equilibrio). Margen = 6,7% − 5,9% = 0,8 puntos.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prueban capitales iniciales desde $0, con el rendimiento esperado (6,7%). El menor con el que se cumple el objetivo es US$8 171 298. Margen = US$10 000 000 − US$8 171 298 = US$1 828 702.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familiar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gasto familiar de todos los años (en el retiro, con su porcentaje) se multiplica por un factor y se prueban factores desde 1. El mayor con el que se cumple el objetivo es 1,6371: US$11 111 × 1,6371 = US$18 190 al mes en dólares de hoy (+63%). Con un gasto mayor, algún año quedaría sin cubrir o el saldo final real bajaría de la herencia (US$12 300 000).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7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final real = saldo nominal 2059 ÷ (1 + inflación)^años = US$59 761 884 ÷ (1 + 3,9%)^33,25 = US$16 747 783. Menos la herencia (US$12 300 000) = US$4 447 783.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aplicados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48640" cy="0"/>
          </a:xfrm>
          <a:prstGeom prst="line">
            <a:avLst/>
          </a:prstGeom>
          <a:noFill/>
          <a:ln w="25400">
            <a:solidFill>
              <a:srgbClr val="918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1615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del asesor y datos del cuestionario con los que se calculó la proyección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364328" cy="411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 450 colones por US$1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local 3,9%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internacional 3,9%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de la pensión del IVM 1%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del ROP N/A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de la pensión voluntaria N/A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hasta los 95 años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5848" y="1737360"/>
            <a:ext cx="5364328" cy="4114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proyección, el primer año (2026) cuenta 3 meses, de octubre a diciembre, desde la fecha del cuestionario: los ingresos, gastos y cuotas de ese año y el rendimiento del portafolio se calculan solo por esos meses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familiar 15% en dólares y 85% en colones, cada parte con la inflación de su moneda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 los bonos en colones 6% (supuesto del asesor según el mercado del día; calcula el capital requerido en Costa Rica)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Pensión estimada US$1 167 mensuales en dólares de hoy, desde los 63 años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extraordinarios: Mantenimientos de propiedades US$15 000 cada año desde 2027, Viaje 1 US$10 000 cada año desde 2027, Viaje 2 US$10 000 cada año desde 2027, Viaje 3 US$25 000 cada año desde 2027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Donaciones US$6 667 al año en dólares de hoy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141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neto de cada año (ingresos menos gastos, más desinversiones) entra al portafolio si es positivo y sale de él si es negativo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Montos expresados en dólares de los Estados Unidos.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9224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CDCD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Chotocruz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Ficha de planificación · Juan Carlos Arguedas Tinajero</dc:title>
  <dc:subject>PptxGenJS Presentation</dc:subject>
  <dc:creator>Chotocruz &amp; Co.</dc:creator>
  <cp:lastModifiedBy>Chotocruz &amp; Co.</cp:lastModifiedBy>
  <cp:revision>1</cp:revision>
  <dcterms:created xsi:type="dcterms:W3CDTF">2026-10-29T19:50:42Z</dcterms:created>
  <dcterms:modified xsi:type="dcterms:W3CDTF">2026-10-29T19:50:42Z</dcterms:modified>
</cp:coreProperties>
</file>